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4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6A575-652F-4D46-8447-8EAAE4E35AAE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6F102-F96E-42F5-9501-F35269B986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1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78D9A19-765D-44A4-ABF0-EE9A515A9FB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B7A7442-0537-4B3A-B028-1104CAB4ACD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FD8C9AA-26BC-4EAB-A2E1-151F9907E3A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8F97894-B5E3-4AB7-8C8E-E1A15F73C25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1D84A4B-DF68-4973-8245-C8C42AB0D7A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FF01E74-B0D1-416A-871C-95E3B364406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9F313B5-27C2-4457-8ABD-AE0B918B434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5067A81-A057-4B77-9CD4-70979B87C08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CBEE0CD-A1CE-400E-8810-7E0F04E938C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F4E198C-60B2-4891-A29D-1E08AC9922C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089F8FA-EE2B-4B47-B2A5-3B485EA3881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88004ED-6720-40BE-BCE0-1BE0535661A0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/>
          <p:nvPr/>
        </p:nvSpPr>
        <p:spPr>
          <a:xfrm>
            <a:off x="0" y="6277680"/>
            <a:ext cx="12188520" cy="5767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20386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" name="Rectangle 9"/>
          <p:cNvSpPr/>
          <p:nvPr/>
        </p:nvSpPr>
        <p:spPr>
          <a:xfrm>
            <a:off x="0" y="1098360"/>
            <a:ext cx="12188520" cy="1234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20386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/>
          <p:cNvPicPr/>
          <p:nvPr/>
        </p:nvPicPr>
        <p:blipFill>
          <a:blip r:embed="rId14"/>
          <a:stretch/>
        </p:blipFill>
        <p:spPr>
          <a:xfrm>
            <a:off x="95760" y="12240"/>
            <a:ext cx="3435840" cy="1082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GB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GB" sz="1400" b="0" strike="noStrike" spc="-1">
                <a:solidFill>
                  <a:srgbClr val="FFFFFF"/>
                </a:solidFill>
                <a:latin typeface="Times New Roman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9155880" y="63853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GB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3584AA-E226-445C-8FEE-AC2088233E69}" type="slidenum">
              <a:rPr lang="en-GB" sz="14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3"/>
          </p:nvPr>
        </p:nvSpPr>
        <p:spPr>
          <a:xfrm>
            <a:off x="250560" y="639108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FEF4F-D803-4B26-CB30-3675C62C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6" y="41319"/>
            <a:ext cx="3114297" cy="100866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2ECC51B-8866-F6A4-024E-79B471CEA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80" y="1364807"/>
            <a:ext cx="10972440" cy="2801839"/>
          </a:xfrm>
        </p:spPr>
        <p:txBody>
          <a:bodyPr/>
          <a:lstStyle/>
          <a:p>
            <a:pPr algn="ctr"/>
            <a:r>
              <a:rPr lang="en-US" sz="3200" b="1" dirty="0"/>
              <a:t>TEMPORAL AND MOTION MODELLING INTO </a:t>
            </a:r>
            <a:r>
              <a:rPr lang="en-US" sz="3200" b="1"/>
              <a:t>OBJECT- SCENE </a:t>
            </a:r>
            <a:r>
              <a:rPr lang="en-US" sz="3200" b="1" dirty="0"/>
              <a:t>FUSION IN VIDEO UNDERSTANDING</a:t>
            </a:r>
            <a:endParaRPr lang="en-IN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916A7-ED1C-EB18-FF08-76174A59F6DC}"/>
              </a:ext>
            </a:extLst>
          </p:cNvPr>
          <p:cNvSpPr txBox="1"/>
          <p:nvPr/>
        </p:nvSpPr>
        <p:spPr>
          <a:xfrm>
            <a:off x="3399754" y="314820"/>
            <a:ext cx="8182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	</a:t>
            </a:r>
            <a:r>
              <a:rPr lang="en-US" sz="2000" b="1" dirty="0"/>
              <a:t>IMAGE ANALYSIS AND COMPUTER VISION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764AED-EB2A-2B82-7C85-456CA9771BCF}"/>
              </a:ext>
            </a:extLst>
          </p:cNvPr>
          <p:cNvSpPr txBox="1"/>
          <p:nvPr/>
        </p:nvSpPr>
        <p:spPr>
          <a:xfrm>
            <a:off x="834271" y="4015864"/>
            <a:ext cx="4407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PROJECT SUBMITTED BY:</a:t>
            </a:r>
            <a:endParaRPr lang="en-IN" b="1" dirty="0"/>
          </a:p>
          <a:p>
            <a:r>
              <a:rPr lang="en-IN" dirty="0"/>
              <a:t>K. Logavarshini</a:t>
            </a:r>
          </a:p>
          <a:p>
            <a:r>
              <a:rPr lang="en-IN" dirty="0"/>
              <a:t>126179023</a:t>
            </a:r>
          </a:p>
          <a:p>
            <a:r>
              <a:rPr lang="en-IN" dirty="0"/>
              <a:t>B.Tech – ROBOTICS AND ARTIFICIAL INTELLIGENCE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6790E-6A79-04E2-CF77-1AA36BE2FCE1}"/>
              </a:ext>
            </a:extLst>
          </p:cNvPr>
          <p:cNvSpPr txBox="1"/>
          <p:nvPr/>
        </p:nvSpPr>
        <p:spPr>
          <a:xfrm>
            <a:off x="7148660" y="4015864"/>
            <a:ext cx="49490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GUIDED BY:</a:t>
            </a:r>
          </a:p>
          <a:p>
            <a:r>
              <a:rPr lang="en-US" dirty="0"/>
              <a:t>Dr. N.R. Rajan</a:t>
            </a:r>
          </a:p>
          <a:p>
            <a:r>
              <a:rPr lang="en-US" dirty="0"/>
              <a:t>School of Electrical and Electronics Engineering</a:t>
            </a:r>
          </a:p>
          <a:p>
            <a:r>
              <a:rPr lang="en-US" dirty="0"/>
              <a:t>SASTRA Deemed University</a:t>
            </a:r>
          </a:p>
        </p:txBody>
      </p:sp>
    </p:spTree>
    <p:extLst>
      <p:ext uri="{BB962C8B-B14F-4D97-AF65-F5344CB8AC3E}">
        <p14:creationId xmlns:p14="http://schemas.microsoft.com/office/powerpoint/2010/main" val="1992910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3E6C-79C0-6092-C76A-99115F6BE4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9621" y="112795"/>
            <a:ext cx="10972800" cy="1144588"/>
          </a:xfrm>
        </p:spPr>
        <p:txBody>
          <a:bodyPr/>
          <a:lstStyle/>
          <a:p>
            <a:r>
              <a:rPr lang="en-US" dirty="0"/>
              <a:t>	                      </a:t>
            </a:r>
            <a:r>
              <a:rPr lang="en-US" b="1" dirty="0"/>
              <a:t>OBJECTIVE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96CE2-3134-9BCC-B830-5E89B1D5A4DB}"/>
              </a:ext>
            </a:extLst>
          </p:cNvPr>
          <p:cNvSpPr txBox="1"/>
          <p:nvPr/>
        </p:nvSpPr>
        <p:spPr>
          <a:xfrm>
            <a:off x="-1" y="1257383"/>
            <a:ext cx="121920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To build a video</a:t>
            </a:r>
            <a:r>
              <a:rPr lang="en-US" b="1" dirty="0"/>
              <a:t> </a:t>
            </a:r>
            <a:r>
              <a:rPr lang="en-US" dirty="0"/>
              <a:t>understanding module that captures how things move over time and fuses that motion with higher-level cues (OSF = Object–Scene Fusion) to produce stable, discriminative descriptors for downstream tasks (activity cues, shot change/motion saliency, retrieval, or tracking quality).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Analyse motion inside videos using optical flow and feature tracking over time.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Model the temporal change of motion patterns across frames and model how object movement evolves temporally.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Fuse motion and scene context for meaningful video interpretation and for better video understanding.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To extract, </a:t>
            </a:r>
            <a:r>
              <a:rPr lang="en-US" dirty="0" err="1"/>
              <a:t>analyse</a:t>
            </a:r>
            <a:r>
              <a:rPr lang="en-US" dirty="0"/>
              <a:t> and </a:t>
            </a:r>
            <a:r>
              <a:rPr lang="en-US" dirty="0" err="1"/>
              <a:t>visualise</a:t>
            </a:r>
            <a:r>
              <a:rPr lang="en-US" dirty="0"/>
              <a:t> motion </a:t>
            </a:r>
            <a:r>
              <a:rPr lang="en-US" dirty="0" err="1"/>
              <a:t>behaviour</a:t>
            </a:r>
            <a:r>
              <a:rPr lang="en-US" dirty="0"/>
              <a:t> in videos using temporal modelling and object-scene fusion.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DD373-E158-70B4-819B-E4CA1671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6" y="41319"/>
            <a:ext cx="3114297" cy="100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3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E760-4EF7-5043-FF05-3E37BEA7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HOW??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F6BA5-A1B1-DCFB-C9AB-838E4CB13230}"/>
              </a:ext>
            </a:extLst>
          </p:cNvPr>
          <p:cNvSpPr txBox="1"/>
          <p:nvPr/>
        </p:nvSpPr>
        <p:spPr>
          <a:xfrm>
            <a:off x="-1" y="1257383"/>
            <a:ext cx="1219200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Frame extraction:</a:t>
            </a:r>
          </a:p>
          <a:p>
            <a:r>
              <a:rPr lang="en-US" b="1" dirty="0"/>
              <a:t>	</a:t>
            </a:r>
            <a:r>
              <a:rPr lang="en-US" dirty="0"/>
              <a:t>The input video is extracted into a sequence of frames at a fixed FPS. The frames are extracted to ensure temporal consistency and provide the base data for all later motion computations. </a:t>
            </a:r>
            <a:endParaRPr lang="en-US" b="1" dirty="0"/>
          </a:p>
          <a:p>
            <a:r>
              <a:rPr lang="en-US" b="1" dirty="0"/>
              <a:t>2. Preprocessing and Motion Saliency:</a:t>
            </a:r>
          </a:p>
          <a:p>
            <a:r>
              <a:rPr lang="en-US" b="1" dirty="0"/>
              <a:t>	</a:t>
            </a:r>
            <a:r>
              <a:rPr lang="en-US" dirty="0"/>
              <a:t>It computes per-pixel motion energy using the equation </a:t>
            </a:r>
            <a:r>
              <a:rPr lang="en-IN" dirty="0"/>
              <a:t>Mt​=∣It​−It−1​∣.</a:t>
            </a:r>
          </a:p>
          <a:p>
            <a:r>
              <a:rPr lang="en-IN" b="1" dirty="0"/>
              <a:t>		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  <a:r>
              <a:rPr lang="en-IN" dirty="0"/>
              <a:t>Mean</a:t>
            </a:r>
            <a:r>
              <a:rPr lang="en-IN" b="1" dirty="0"/>
              <a:t>: </a:t>
            </a:r>
            <a:r>
              <a:rPr lang="en-IN" dirty="0"/>
              <a:t>0.3641 – average motion energy in this frame</a:t>
            </a:r>
          </a:p>
          <a:p>
            <a:r>
              <a:rPr lang="en-IN" b="1" dirty="0"/>
              <a:t>		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  <a:r>
              <a:rPr lang="en-IN" dirty="0"/>
              <a:t>Variance</a:t>
            </a:r>
            <a:r>
              <a:rPr lang="en-IN" b="1" dirty="0"/>
              <a:t>: </a:t>
            </a:r>
            <a:r>
              <a:rPr lang="en-IN" dirty="0"/>
              <a:t>0.0074 – motion is relatively uniform</a:t>
            </a:r>
          </a:p>
          <a:p>
            <a:r>
              <a:rPr lang="en-IN" dirty="0"/>
              <a:t>		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Active</a:t>
            </a:r>
            <a:r>
              <a:rPr lang="en-IN" b="1" dirty="0"/>
              <a:t> </a:t>
            </a:r>
            <a:r>
              <a:rPr lang="en-IN" dirty="0"/>
              <a:t>Fraction</a:t>
            </a:r>
            <a:r>
              <a:rPr lang="en-IN" b="1" dirty="0"/>
              <a:t>: </a:t>
            </a:r>
            <a:r>
              <a:rPr lang="en-IN" dirty="0"/>
              <a:t>1.0000 – nearly all the motion exceeds </a:t>
            </a:r>
          </a:p>
          <a:p>
            <a:r>
              <a:rPr lang="en-IN" dirty="0"/>
              <a:t>					the threshold.</a:t>
            </a:r>
          </a:p>
          <a:p>
            <a:r>
              <a:rPr lang="en-IN" b="1" dirty="0"/>
              <a:t>3. Optical Flow:</a:t>
            </a:r>
          </a:p>
          <a:p>
            <a:r>
              <a:rPr lang="en-IN" b="1" dirty="0"/>
              <a:t>	</a:t>
            </a:r>
            <a:r>
              <a:rPr lang="en-IN" dirty="0"/>
              <a:t>Estimate per-pixel flow and compute magnitude stats</a:t>
            </a:r>
          </a:p>
          <a:p>
            <a:r>
              <a:rPr lang="en-IN" b="1" dirty="0"/>
              <a:t>		</a:t>
            </a:r>
            <a:r>
              <a:rPr lang="en-IN" b="1" dirty="0">
                <a:sym typeface="Wingdings" panose="05000000000000000000" pitchFamily="2" charset="2"/>
              </a:rPr>
              <a:t> </a:t>
            </a:r>
            <a:r>
              <a:rPr lang="en-IN" dirty="0">
                <a:sym typeface="Wingdings" panose="05000000000000000000" pitchFamily="2" charset="2"/>
              </a:rPr>
              <a:t>M</a:t>
            </a:r>
            <a:r>
              <a:rPr lang="en-US" dirty="0" err="1"/>
              <a:t>edian</a:t>
            </a:r>
            <a:r>
              <a:rPr lang="en-US" dirty="0"/>
              <a:t> &lt; mean implies a tail of fast movers.</a:t>
            </a:r>
          </a:p>
          <a:p>
            <a:r>
              <a:rPr lang="en-US" b="1" dirty="0"/>
              <a:t>		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IN" i="1" dirty="0"/>
              <a:t>Variance:</a:t>
            </a:r>
            <a:r>
              <a:rPr lang="en-IN" dirty="0"/>
              <a:t> 37.7109 – heterogeneous speed</a:t>
            </a:r>
          </a:p>
          <a:p>
            <a:r>
              <a:rPr lang="en-IN" b="1" dirty="0"/>
              <a:t>4. Keypoint Trajectories:</a:t>
            </a:r>
          </a:p>
          <a:p>
            <a:r>
              <a:rPr lang="en-IN" b="1" dirty="0"/>
              <a:t>	</a:t>
            </a:r>
            <a:r>
              <a:rPr lang="en-US" dirty="0"/>
              <a:t>Detect good features to track and follow with KLT.</a:t>
            </a:r>
          </a:p>
          <a:p>
            <a:r>
              <a:rPr lang="en-US" b="1" dirty="0"/>
              <a:t>	</a:t>
            </a:r>
            <a:r>
              <a:rPr lang="en-US" dirty="0"/>
              <a:t>This complements dense flow with a longer</a:t>
            </a:r>
            <a:r>
              <a:rPr lang="en-US" b="1" dirty="0"/>
              <a:t> </a:t>
            </a:r>
            <a:r>
              <a:rPr lang="en-US" dirty="0"/>
              <a:t>horizon motion coherence.</a:t>
            </a:r>
          </a:p>
          <a:p>
            <a:r>
              <a:rPr lang="en-US" b="1" dirty="0"/>
              <a:t>	</a:t>
            </a:r>
            <a:r>
              <a:rPr lang="en-US" dirty="0"/>
              <a:t>The number of tracks implements a healthy coverage and the displacements indicate </a:t>
            </a:r>
          </a:p>
          <a:p>
            <a:r>
              <a:rPr lang="en-US" dirty="0"/>
              <a:t>	outliers and fast objects.</a:t>
            </a:r>
          </a:p>
          <a:p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D207F-E925-7227-9885-D4AC4332B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96" y="2333730"/>
            <a:ext cx="2224727" cy="1251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B4EB91-BEE8-7006-6D89-A509C1F27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86" y="3996523"/>
            <a:ext cx="2017336" cy="1144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04933D-072B-87DA-C28C-F42377A0A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263" y="4831400"/>
            <a:ext cx="2375615" cy="13882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BFD1B2-754E-C2E2-0802-E71D9E89F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496" y="41319"/>
            <a:ext cx="3114297" cy="100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4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8138E6-B113-5001-FCD5-9234464B6106}"/>
              </a:ext>
            </a:extLst>
          </p:cNvPr>
          <p:cNvSpPr txBox="1"/>
          <p:nvPr/>
        </p:nvSpPr>
        <p:spPr>
          <a:xfrm>
            <a:off x="142973" y="1385740"/>
            <a:ext cx="1190605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</a:t>
            </a:r>
            <a:r>
              <a:rPr lang="en-IN" b="1" dirty="0"/>
              <a:t>Temporal Descriptor Construction:</a:t>
            </a:r>
          </a:p>
          <a:p>
            <a:r>
              <a:rPr lang="en-IN" b="1" dirty="0"/>
              <a:t>	</a:t>
            </a:r>
            <a:r>
              <a:rPr lang="en-US" dirty="0"/>
              <a:t>Aggregate motion into a fixed-length vector</a:t>
            </a:r>
          </a:p>
          <a:p>
            <a:r>
              <a:rPr lang="en-US" b="1" dirty="0"/>
              <a:t>	</a:t>
            </a:r>
            <a:r>
              <a:rPr lang="en-US" dirty="0"/>
              <a:t>From the values they represent near-zero mean,</a:t>
            </a:r>
          </a:p>
          <a:p>
            <a:r>
              <a:rPr lang="en-US" dirty="0"/>
              <a:t>	high variance: well-spread, informative descriptor.</a:t>
            </a:r>
          </a:p>
          <a:p>
            <a:endParaRPr lang="en-US" b="1" dirty="0"/>
          </a:p>
          <a:p>
            <a:r>
              <a:rPr lang="en-US" b="1" dirty="0"/>
              <a:t>6. OSF – Integration:</a:t>
            </a:r>
          </a:p>
          <a:p>
            <a:r>
              <a:rPr lang="en-US" b="1" dirty="0"/>
              <a:t>	</a:t>
            </a:r>
            <a:r>
              <a:rPr lang="en-US" dirty="0"/>
              <a:t>Fuse motion-weighted signal (yellow) with a baseline</a:t>
            </a:r>
          </a:p>
          <a:p>
            <a:r>
              <a:rPr lang="en-US" b="1" dirty="0"/>
              <a:t>	</a:t>
            </a:r>
            <a:r>
              <a:rPr lang="en-US" dirty="0"/>
              <a:t>scene/object logits or prior saliency.</a:t>
            </a:r>
            <a:endParaRPr lang="en-US" b="1" dirty="0"/>
          </a:p>
          <a:p>
            <a:r>
              <a:rPr lang="en-US" b="1" dirty="0"/>
              <a:t>	</a:t>
            </a:r>
            <a:r>
              <a:rPr lang="en-US" dirty="0"/>
              <a:t>The overlaid timeline shows yellow tracking peaks where</a:t>
            </a:r>
          </a:p>
          <a:p>
            <a:r>
              <a:rPr lang="en-US" b="1" dirty="0"/>
              <a:t>	</a:t>
            </a:r>
            <a:r>
              <a:rPr lang="en-US" dirty="0"/>
              <a:t>motion strengthens confidence.</a:t>
            </a:r>
          </a:p>
          <a:p>
            <a:r>
              <a:rPr lang="en-US" b="1" dirty="0"/>
              <a:t>	</a:t>
            </a:r>
            <a:r>
              <a:rPr lang="en-US" dirty="0"/>
              <a:t>RESULT: Robustness to camera shake and sensitivity to truly </a:t>
            </a:r>
          </a:p>
          <a:p>
            <a:r>
              <a:rPr lang="en-US" b="1" dirty="0"/>
              <a:t>	</a:t>
            </a:r>
            <a:r>
              <a:rPr lang="en-US" dirty="0"/>
              <a:t>dynamic regions.</a:t>
            </a:r>
          </a:p>
          <a:p>
            <a:r>
              <a:rPr lang="en-IN" b="1" dirty="0"/>
              <a:t>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419EBE-E4EA-8F2B-81AA-A7083F2BE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679" y="1373585"/>
            <a:ext cx="2441542" cy="1198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E03A91-53A8-AD86-3E51-35912D6C5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979" y="3283835"/>
            <a:ext cx="3048000" cy="1714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239A9A-62EE-8A46-7EB0-177A1B708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96" y="41319"/>
            <a:ext cx="3114297" cy="100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7300-11B5-BB29-AAC7-2ED25DDB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FINAL RESULTS</a:t>
            </a:r>
            <a:endParaRPr lang="en-IN" dirty="0"/>
          </a:p>
        </p:txBody>
      </p:sp>
      <p:pic>
        <p:nvPicPr>
          <p:cNvPr id="4" name="motion_evolution">
            <a:hlinkClick r:id="" action="ppaction://media"/>
            <a:extLst>
              <a:ext uri="{FF2B5EF4-FFF2-40B4-BE49-F238E27FC236}">
                <a16:creationId xmlns:a16="http://schemas.microsoft.com/office/drawing/2014/main" id="{8065E620-727A-8B22-64E5-7C7CB95A679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9383" y="1275978"/>
            <a:ext cx="4876800" cy="16029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ACDF81-1B03-41D2-A7EE-2A1152C2A7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0940" y="1220203"/>
            <a:ext cx="4230979" cy="1714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2B3C7C-7B52-2220-A67A-0769D8FD32EC}"/>
              </a:ext>
            </a:extLst>
          </p:cNvPr>
          <p:cNvSpPr txBox="1"/>
          <p:nvPr/>
        </p:nvSpPr>
        <p:spPr>
          <a:xfrm>
            <a:off x="0" y="2878928"/>
            <a:ext cx="684415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LEFT SIDE: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is the scene/video frame with motion intensity applied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Mostly blue → meaning low or no motion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Brighter or lighter areas (cyan/green) → regions with movement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Text “Frame 1 / 100” indicates temporal position in the video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RIGHT SIDE: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is a pure optical flow visualization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Colour</a:t>
            </a:r>
            <a:r>
              <a:rPr lang="en-US" altLang="en-US" dirty="0">
                <a:latin typeface="Arial" panose="020B0604020202020204" pitchFamily="34" charset="0"/>
              </a:rPr>
              <a:t> represent direction + magnitude of motion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Each </a:t>
            </a:r>
            <a:r>
              <a:rPr lang="en-US" altLang="en-US" dirty="0" err="1">
                <a:latin typeface="Arial" panose="020B0604020202020204" pitchFamily="34" charset="0"/>
              </a:rPr>
              <a:t>colour</a:t>
            </a:r>
            <a:r>
              <a:rPr lang="en-US" altLang="en-US" dirty="0">
                <a:latin typeface="Arial" panose="020B0604020202020204" pitchFamily="34" charset="0"/>
              </a:rPr>
              <a:t> encodes pixel motion vector direction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Brightness = motion strength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This only shows motion field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F0B7B7-D13F-E77C-6096-534F7881D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496" y="41319"/>
            <a:ext cx="3114297" cy="10086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1BDEE0-192E-C99C-D706-129239355107}"/>
              </a:ext>
            </a:extLst>
          </p:cNvPr>
          <p:cNvSpPr txBox="1"/>
          <p:nvPr/>
        </p:nvSpPr>
        <p:spPr>
          <a:xfrm>
            <a:off x="6702458" y="3060325"/>
            <a:ext cx="56768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Gives a complete temporal understanding view: raw motion → statistical encoding → fused higher-level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Demonstrates temporal</a:t>
            </a:r>
            <a:r>
              <a:rPr lang="fr-FR" b="1" dirty="0"/>
              <a:t> </a:t>
            </a:r>
            <a:r>
              <a:rPr lang="fr-FR" dirty="0"/>
              <a:t>stability </a:t>
            </a:r>
          </a:p>
          <a:p>
            <a:r>
              <a:rPr lang="fr-FR" dirty="0"/>
              <a:t>(</a:t>
            </a:r>
            <a:r>
              <a:rPr lang="fr-FR" dirty="0" err="1"/>
              <a:t>Cosine</a:t>
            </a:r>
            <a:r>
              <a:rPr lang="fr-FR" dirty="0"/>
              <a:t> Sim = 1.00 → consistent signature)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59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278E60-A86A-6F9B-F676-A5F413D4339F}"/>
              </a:ext>
            </a:extLst>
          </p:cNvPr>
          <p:cNvSpPr txBox="1"/>
          <p:nvPr/>
        </p:nvSpPr>
        <p:spPr>
          <a:xfrm>
            <a:off x="2978870" y="3095019"/>
            <a:ext cx="6608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THANK YOU…!!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2391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126179019_AMR</Template>
  <TotalTime>2929</TotalTime>
  <Words>575</Words>
  <Application>Microsoft Office PowerPoint</Application>
  <PresentationFormat>Widescreen</PresentationFormat>
  <Paragraphs>70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Symbol</vt:lpstr>
      <vt:lpstr>Times New Roman</vt:lpstr>
      <vt:lpstr>Wingdings</vt:lpstr>
      <vt:lpstr>Office Theme</vt:lpstr>
      <vt:lpstr>TEMPORAL AND MOTION MODELLING INTO OBJECT- SCENE FUSION IN VIDEO UNDERSTANDING</vt:lpstr>
      <vt:lpstr>                       OBJECTIVE</vt:lpstr>
      <vt:lpstr>    HOW??</vt:lpstr>
      <vt:lpstr>PowerPoint Presentation</vt:lpstr>
      <vt:lpstr>    FINAL 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 Meiyappan</dc:creator>
  <dc:description/>
  <cp:lastModifiedBy>logavarshini26082023@outlook.com</cp:lastModifiedBy>
  <cp:revision>49</cp:revision>
  <dcterms:created xsi:type="dcterms:W3CDTF">2025-01-08T15:38:38Z</dcterms:created>
  <dcterms:modified xsi:type="dcterms:W3CDTF">2025-11-08T07:05:57Z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